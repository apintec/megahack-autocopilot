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2"/>
  </p:sldMasterIdLst>
  <p:notesMasterIdLst>
    <p:notesMasterId r:id="rId16"/>
  </p:notesMasterIdLst>
  <p:sldIdLst>
    <p:sldId id="11089877" r:id="rId3"/>
    <p:sldId id="11089939" r:id="rId4"/>
    <p:sldId id="11089941" r:id="rId5"/>
    <p:sldId id="11089943" r:id="rId6"/>
    <p:sldId id="11089944" r:id="rId7"/>
    <p:sldId id="11089945" r:id="rId8"/>
    <p:sldId id="11089946" r:id="rId9"/>
    <p:sldId id="11089947" r:id="rId10"/>
    <p:sldId id="11089948" r:id="rId11"/>
    <p:sldId id="11089949" r:id="rId12"/>
    <p:sldId id="11089942" r:id="rId13"/>
    <p:sldId id="11089940" r:id="rId14"/>
    <p:sldId id="775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武文婷" initials="ww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500"/>
    <a:srgbClr val="ED7D31"/>
    <a:srgbClr val="F1650C"/>
    <a:srgbClr val="FFC000"/>
    <a:srgbClr val="F3B70D"/>
    <a:srgbClr val="F04E23"/>
    <a:srgbClr val="BF9000"/>
    <a:srgbClr val="221E20"/>
    <a:srgbClr val="F38061"/>
    <a:srgbClr val="41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 autoAdjust="0"/>
    <p:restoredTop sz="94293" autoAdjust="0"/>
  </p:normalViewPr>
  <p:slideViewPr>
    <p:cSldViewPr snapToGrid="0" snapToObjects="1">
      <p:cViewPr>
        <p:scale>
          <a:sx n="100" d="100"/>
          <a:sy n="100" d="100"/>
        </p:scale>
        <p:origin x="588" y="2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3FD29-B961-44EF-8993-BA1D31ED7503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C8C7E-75DC-410D-B01C-5B1CC9B8EA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C8C7E-75DC-410D-B01C-5B1CC9B8EA2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83" y="6356350"/>
            <a:ext cx="2743470" cy="365125"/>
          </a:xfrm>
        </p:spPr>
        <p:txBody>
          <a:bodyPr/>
          <a:lstStyle/>
          <a:p>
            <a:fld id="{81650EF8-B89C-E84C-B00A-6711C8FE035E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998" y="6356350"/>
            <a:ext cx="4115205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2264410" y="6356350"/>
            <a:ext cx="2743835" cy="365125"/>
          </a:xfrm>
        </p:spPr>
        <p:txBody>
          <a:bodyPr/>
          <a:lstStyle/>
          <a:p>
            <a:fld id="{378D03F5-44E0-8943-8622-898602A1BF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811608" y="242501"/>
            <a:ext cx="2108200" cy="34290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0792586" y="6466772"/>
            <a:ext cx="12346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i="1" dirty="0">
                <a:solidFill>
                  <a:srgbClr val="EC6639"/>
                </a:solidFill>
                <a:latin typeface="Avenir Light Oblique" panose="020B0402020203090204" pitchFamily="34" charset="0"/>
              </a:rPr>
              <a:t>Copyright</a:t>
            </a:r>
            <a:r>
              <a:rPr kumimoji="1" lang="zh-CN" altLang="en-US" sz="700" i="1" dirty="0">
                <a:solidFill>
                  <a:srgbClr val="EC6639"/>
                </a:solidFill>
                <a:latin typeface="Avenir Light Oblique" panose="020B0402020203090204" pitchFamily="34" charset="0"/>
              </a:rPr>
              <a:t> </a:t>
            </a:r>
            <a:r>
              <a:rPr kumimoji="1" lang="en-US" altLang="zh-CN" sz="700" i="1" dirty="0">
                <a:solidFill>
                  <a:srgbClr val="EC6639"/>
                </a:solidFill>
                <a:latin typeface="Avenir Light Oblique" panose="020B0402020203090204" pitchFamily="34" charset="0"/>
              </a:rPr>
              <a:t>©️</a:t>
            </a:r>
            <a:r>
              <a:rPr kumimoji="1" lang="zh-CN" altLang="en-US" sz="700" i="1" dirty="0">
                <a:solidFill>
                  <a:srgbClr val="EC6639"/>
                </a:solidFill>
                <a:latin typeface="Avenir Light Oblique" panose="020B0402020203090204" pitchFamily="34" charset="0"/>
              </a:rPr>
              <a:t> </a:t>
            </a:r>
            <a:r>
              <a:rPr kumimoji="1" lang="en-US" altLang="zh-CN" sz="700" i="1" dirty="0">
                <a:solidFill>
                  <a:srgbClr val="EC6639"/>
                </a:solidFill>
                <a:latin typeface="Avenir Light Oblique" panose="020B0402020203090204" pitchFamily="34" charset="0"/>
              </a:rPr>
              <a:t>MEGAROBO</a:t>
            </a:r>
            <a:endParaRPr kumimoji="1" lang="zh-CN" altLang="en-US" sz="700" i="1" dirty="0">
              <a:solidFill>
                <a:srgbClr val="EC6639"/>
              </a:solidFill>
              <a:latin typeface="Avenir Light Oblique" panose="020B0402020203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 userDrawn="1"/>
        </p:nvSpPr>
        <p:spPr>
          <a:xfrm>
            <a:off x="1755648" y="33649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03461" y="2137372"/>
            <a:ext cx="750324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4000" b="1">
                <a:solidFill>
                  <a:prstClr val="black"/>
                </a:solidFill>
              </a:rPr>
              <a:t>武汉华星</a:t>
            </a:r>
            <a:r>
              <a:rPr lang="en-US" altLang="zh-CN" sz="4000" b="1">
                <a:solidFill>
                  <a:prstClr val="black"/>
                </a:solidFill>
              </a:rPr>
              <a:t>T4 </a:t>
            </a:r>
            <a:r>
              <a:rPr lang="zh-CN" altLang="en-US" sz="4000" b="1" smtClean="0">
                <a:solidFill>
                  <a:prstClr val="black"/>
                </a:solidFill>
              </a:rPr>
              <a:t>全制程</a:t>
            </a:r>
            <a:r>
              <a:rPr lang="en-US" altLang="zh-CN" sz="4000" b="1" smtClean="0">
                <a:solidFill>
                  <a:prstClr val="black"/>
                </a:solidFill>
              </a:rPr>
              <a:t>AOI</a:t>
            </a:r>
            <a:r>
              <a:rPr lang="zh-CN" altLang="en-US" sz="4000" b="1" smtClean="0">
                <a:solidFill>
                  <a:prstClr val="black"/>
                </a:solidFill>
              </a:rPr>
              <a:t>能力提升</a:t>
            </a:r>
            <a:endParaRPr lang="en-US" altLang="zh-CN" sz="4000" b="1">
              <a:solidFill>
                <a:prstClr val="black"/>
              </a:solidFill>
            </a:endParaRPr>
          </a:p>
          <a:p>
            <a:pPr lvl="0"/>
            <a:r>
              <a:rPr lang="en-US" altLang="zh-CN" sz="4000" b="1">
                <a:solidFill>
                  <a:prstClr val="black"/>
                </a:solidFill>
              </a:rPr>
              <a:t>             </a:t>
            </a:r>
            <a:r>
              <a:rPr lang="zh-CN" altLang="en-US" sz="4000" b="1">
                <a:solidFill>
                  <a:prstClr val="black"/>
                </a:solidFill>
              </a:rPr>
              <a:t>工</a:t>
            </a:r>
            <a:r>
              <a:rPr lang="zh-CN" altLang="en-US" sz="4000" b="1">
                <a:solidFill>
                  <a:prstClr val="black"/>
                </a:solidFill>
              </a:rPr>
              <a:t>控</a:t>
            </a:r>
            <a:r>
              <a:rPr lang="zh-CN" altLang="en-US" sz="4000" b="1" smtClean="0">
                <a:solidFill>
                  <a:prstClr val="black"/>
                </a:solidFill>
              </a:rPr>
              <a:t>机数量估算</a:t>
            </a:r>
            <a:r>
              <a:rPr lang="en-US" altLang="zh-CN" b="1" smtClean="0">
                <a:solidFill>
                  <a:prstClr val="black"/>
                </a:solidFill>
              </a:rPr>
              <a:t>                         </a:t>
            </a:r>
            <a:endParaRPr lang="en-US" altLang="zh-CN" b="1">
              <a:solidFill>
                <a:prstClr val="black"/>
              </a:solidFill>
            </a:endParaRPr>
          </a:p>
          <a:p>
            <a:pPr algn="ctr">
              <a:lnSpc>
                <a:spcPct val="150000"/>
              </a:lnSpc>
            </a:pP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04015" y="4322857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mtClean="0"/>
              <a:t>2026-05-09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——Laser Cut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2448</a:t>
            </a:r>
            <a:r>
              <a:rPr lang="zh-CN" altLang="en-US" smtClean="0"/>
              <a:t>*</a:t>
            </a:r>
            <a:r>
              <a:rPr lang="en-US" altLang="zh-CN" smtClean="0"/>
              <a:t>2048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4s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/>
              <a:t>8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10</a:t>
            </a:r>
            <a:r>
              <a:rPr lang="en-US" altLang="zh-CN" smtClean="0"/>
              <a:t>0ms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 smtClean="0"/>
              <a:t>缺陷检测</a:t>
            </a:r>
            <a:r>
              <a:rPr lang="en-US" altLang="zh-CN" smtClean="0"/>
              <a:t>+</a:t>
            </a:r>
            <a:r>
              <a:rPr lang="zh-CN" altLang="en-US" smtClean="0"/>
              <a:t>实例分割）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150</a:t>
            </a:r>
            <a:r>
              <a:rPr lang="en-US" altLang="zh-CN" smtClean="0"/>
              <a:t>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4s</a:t>
            </a:r>
            <a:r>
              <a:rPr lang="zh-CN" altLang="en-US" smtClean="0"/>
              <a:t>内，一个工控机，可处理的图片数量是：</a:t>
            </a:r>
            <a:r>
              <a:rPr lang="en-US" altLang="zh-CN" smtClean="0"/>
              <a:t>4s/150ms </a:t>
            </a:r>
            <a:r>
              <a:rPr lang="zh-CN" altLang="en-US"/>
              <a:t>≈</a:t>
            </a:r>
            <a:r>
              <a:rPr lang="en-US" altLang="zh-CN" smtClean="0"/>
              <a:t> </a:t>
            </a:r>
            <a:r>
              <a:rPr lang="en-US" altLang="zh-CN" smtClean="0"/>
              <a:t>2</a:t>
            </a:r>
            <a:r>
              <a:rPr lang="en-US" altLang="zh-CN"/>
              <a:t>6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3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26</a:t>
            </a:r>
            <a:r>
              <a:rPr lang="en-US" altLang="zh-CN" smtClean="0"/>
              <a:t>/8</a:t>
            </a:r>
            <a:r>
              <a:rPr lang="zh-CN" altLang="en-US" smtClean="0"/>
              <a:t>≈</a:t>
            </a:r>
            <a:r>
              <a:rPr lang="en-US" altLang="zh-CN" smtClean="0"/>
              <a:t>3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3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来计算，一片产品需要拍两张图（两个端子）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 smtClean="0"/>
              <a:t>2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5s/150ms </a:t>
            </a:r>
            <a:r>
              <a:rPr lang="zh-CN" altLang="en-US"/>
              <a:t>≈</a:t>
            </a:r>
            <a:r>
              <a:rPr lang="en-US" altLang="zh-CN"/>
              <a:t> </a:t>
            </a:r>
            <a:r>
              <a:rPr lang="en-US" altLang="zh-CN" smtClean="0"/>
              <a:t>33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 smtClean="0"/>
              <a:t>16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33/2</a:t>
            </a:r>
            <a:r>
              <a:rPr lang="zh-CN" altLang="en-US" smtClean="0"/>
              <a:t>≈</a:t>
            </a:r>
            <a:r>
              <a:rPr lang="en-US" altLang="zh-CN" smtClean="0"/>
              <a:t>16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16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043" y="0"/>
            <a:ext cx="6165957" cy="220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2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——PoL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5472</a:t>
            </a:r>
            <a:r>
              <a:rPr lang="zh-CN" altLang="en-US" smtClean="0"/>
              <a:t>*</a:t>
            </a:r>
            <a:r>
              <a:rPr lang="en-US" altLang="zh-CN" smtClean="0"/>
              <a:t>3648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/>
              <a:t>2</a:t>
            </a:r>
            <a:r>
              <a:rPr lang="en-US" altLang="zh-CN" smtClean="0"/>
              <a:t>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/>
              <a:t>8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2</a:t>
            </a:r>
            <a:r>
              <a:rPr lang="en-US" altLang="zh-CN" smtClean="0"/>
              <a:t>0</a:t>
            </a:r>
            <a:r>
              <a:rPr lang="en-US" altLang="zh-CN" smtClean="0"/>
              <a:t>0ms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 smtClean="0"/>
              <a:t>缺陷检测</a:t>
            </a:r>
            <a:r>
              <a:rPr lang="en-US" altLang="zh-CN" smtClean="0"/>
              <a:t>+</a:t>
            </a:r>
            <a:r>
              <a:rPr lang="zh-CN" altLang="en-US" smtClean="0"/>
              <a:t>实例分割）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250</a:t>
            </a:r>
            <a:r>
              <a:rPr lang="en-US" altLang="zh-CN" smtClean="0"/>
              <a:t>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2s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2</a:t>
            </a:r>
            <a:r>
              <a:rPr lang="en-US" altLang="zh-CN" smtClean="0"/>
              <a:t>s/250ms </a:t>
            </a:r>
            <a:r>
              <a:rPr lang="en-US" altLang="zh-CN" smtClean="0"/>
              <a:t>=</a:t>
            </a:r>
            <a:r>
              <a:rPr lang="en-US" altLang="zh-CN" smtClean="0"/>
              <a:t> </a:t>
            </a:r>
            <a:r>
              <a:rPr lang="en-US" altLang="zh-CN" smtClean="0"/>
              <a:t>8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1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8/8</a:t>
            </a:r>
            <a:r>
              <a:rPr lang="en-US" altLang="zh-CN" smtClean="0"/>
              <a:t>=</a:t>
            </a:r>
            <a:r>
              <a:rPr lang="en-US" altLang="zh-CN"/>
              <a:t>1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1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 smtClean="0"/>
              <a:t>1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/>
              <a:t>1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5s/250ms = 20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 smtClean="0"/>
              <a:t>20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20/1=20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20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24" y="0"/>
            <a:ext cx="5253109" cy="24257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21677" y="6275882"/>
            <a:ext cx="1077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重要</a:t>
            </a:r>
            <a:r>
              <a:rPr lang="zh-CN" altLang="en-US" b="1">
                <a:solidFill>
                  <a:srgbClr val="FF0000"/>
                </a:solidFill>
              </a:rPr>
              <a:t>说明</a:t>
            </a:r>
            <a:r>
              <a:rPr lang="zh-CN" altLang="en-US" b="1" smtClean="0">
                <a:solidFill>
                  <a:srgbClr val="FF0000"/>
                </a:solidFill>
              </a:rPr>
              <a:t>：由于其中</a:t>
            </a:r>
            <a:r>
              <a:rPr lang="en-US" altLang="zh-CN" b="1" smtClean="0">
                <a:solidFill>
                  <a:srgbClr val="FF0000"/>
                </a:solidFill>
              </a:rPr>
              <a:t>8</a:t>
            </a:r>
            <a:r>
              <a:rPr lang="zh-CN" altLang="en-US" b="1" smtClean="0">
                <a:solidFill>
                  <a:srgbClr val="FF0000"/>
                </a:solidFill>
              </a:rPr>
              <a:t>条线需要实时检测，因此采用 </a:t>
            </a:r>
            <a:r>
              <a:rPr lang="en-US" altLang="zh-CN" b="1" smtClean="0">
                <a:solidFill>
                  <a:srgbClr val="FF0000"/>
                </a:solidFill>
              </a:rPr>
              <a:t>8 + 1</a:t>
            </a:r>
            <a:r>
              <a:rPr lang="zh-CN" altLang="en-US" b="1" smtClean="0">
                <a:solidFill>
                  <a:srgbClr val="FF0000"/>
                </a:solidFill>
              </a:rPr>
              <a:t>的方案，即</a:t>
            </a:r>
            <a:r>
              <a:rPr lang="en-US" altLang="zh-CN" b="1" smtClean="0">
                <a:solidFill>
                  <a:srgbClr val="FF0000"/>
                </a:solidFill>
              </a:rPr>
              <a:t>8</a:t>
            </a:r>
            <a:r>
              <a:rPr lang="zh-CN" altLang="en-US" b="1" smtClean="0">
                <a:solidFill>
                  <a:srgbClr val="FF0000"/>
                </a:solidFill>
              </a:rPr>
              <a:t>个工控机在线 </a:t>
            </a:r>
            <a:r>
              <a:rPr lang="en-US" altLang="zh-CN" b="1" smtClean="0">
                <a:solidFill>
                  <a:srgbClr val="FF0000"/>
                </a:solidFill>
              </a:rPr>
              <a:t>+ 1</a:t>
            </a:r>
            <a:r>
              <a:rPr lang="zh-CN" altLang="en-US" b="1" smtClean="0">
                <a:solidFill>
                  <a:srgbClr val="FF0000"/>
                </a:solidFill>
              </a:rPr>
              <a:t>个工控机离线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9772650" y="2127250"/>
            <a:ext cx="196850" cy="4222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3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——PIS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17000</a:t>
            </a:r>
            <a:r>
              <a:rPr lang="zh-CN" altLang="en-US" smtClean="0"/>
              <a:t>*</a:t>
            </a:r>
            <a:r>
              <a:rPr lang="en-US" altLang="zh-CN" smtClean="0"/>
              <a:t>2048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4s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 smtClean="0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800m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/>
              <a:t>语义</a:t>
            </a:r>
            <a:r>
              <a:rPr lang="zh-CN" altLang="en-US" smtClean="0"/>
              <a:t>分割</a:t>
            </a:r>
            <a:r>
              <a:rPr lang="en-US" altLang="zh-CN" smtClean="0"/>
              <a:t>+</a:t>
            </a:r>
            <a:r>
              <a:rPr lang="zh-CN" altLang="en-US" smtClean="0"/>
              <a:t>气泡</a:t>
            </a:r>
            <a:r>
              <a:rPr lang="en-US" altLang="zh-CN" smtClean="0"/>
              <a:t>/</a:t>
            </a:r>
            <a:r>
              <a:rPr lang="zh-CN" altLang="en-US" smtClean="0"/>
              <a:t>异物尺寸计算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100</a:t>
            </a:r>
            <a:r>
              <a:rPr lang="en-US" altLang="zh-CN" smtClean="0"/>
              <a:t>0</a:t>
            </a:r>
            <a:r>
              <a:rPr lang="en-US" altLang="zh-CN" smtClean="0"/>
              <a:t>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4s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4s/1000ms </a:t>
            </a:r>
            <a:r>
              <a:rPr lang="en-US" altLang="zh-CN" smtClean="0"/>
              <a:t>=</a:t>
            </a:r>
            <a:r>
              <a:rPr lang="en-US" altLang="zh-CN" smtClean="0"/>
              <a:t> </a:t>
            </a:r>
            <a:r>
              <a:rPr lang="en-US" altLang="zh-CN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1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4</a:t>
            </a:r>
            <a:r>
              <a:rPr lang="en-US" altLang="zh-CN" smtClean="0"/>
              <a:t>/4</a:t>
            </a:r>
            <a:r>
              <a:rPr lang="en-US" altLang="zh-CN" smtClean="0"/>
              <a:t>=1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1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 smtClean="0"/>
              <a:t>1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/>
              <a:t>1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5s/1000ms = 5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/>
              <a:t>5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5/1=5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/>
              <a:t>5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1"/>
            <a:ext cx="6146800" cy="210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3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——line cut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1440</a:t>
            </a:r>
            <a:r>
              <a:rPr lang="zh-CN" altLang="en-US" smtClean="0"/>
              <a:t>*</a:t>
            </a:r>
            <a:r>
              <a:rPr lang="en-US" altLang="zh-CN" smtClean="0"/>
              <a:t>1080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4s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 smtClean="0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/>
              <a:t>1</a:t>
            </a:r>
            <a:r>
              <a:rPr lang="en-US" altLang="zh-CN" smtClean="0"/>
              <a:t>00m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/>
              <a:t>语义</a:t>
            </a:r>
            <a:r>
              <a:rPr lang="zh-CN" altLang="en-US" smtClean="0"/>
              <a:t>分割</a:t>
            </a:r>
            <a:r>
              <a:rPr lang="en-US" altLang="zh-CN" smtClean="0"/>
              <a:t>+</a:t>
            </a:r>
            <a:r>
              <a:rPr lang="zh-CN" altLang="en-US" smtClean="0"/>
              <a:t>后处理计算切割道宽度）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150ms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4s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4s/150ms </a:t>
            </a:r>
            <a:r>
              <a:rPr lang="zh-CN" altLang="en-US"/>
              <a:t>≈</a:t>
            </a:r>
            <a:r>
              <a:rPr lang="en-US" altLang="zh-CN" smtClean="0"/>
              <a:t> </a:t>
            </a:r>
            <a:r>
              <a:rPr lang="en-US" altLang="zh-CN" smtClean="0"/>
              <a:t>26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6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26/4</a:t>
            </a:r>
            <a:r>
              <a:rPr lang="zh-CN" altLang="en-US" smtClean="0"/>
              <a:t>≈</a:t>
            </a:r>
            <a:r>
              <a:rPr lang="en-US" altLang="zh-CN"/>
              <a:t>6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6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/>
              <a:t>2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 smtClean="0"/>
              <a:t>2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5s/150ms </a:t>
            </a:r>
            <a:r>
              <a:rPr lang="zh-CN" altLang="en-US"/>
              <a:t>≈</a:t>
            </a:r>
            <a:r>
              <a:rPr lang="en-US" altLang="zh-CN" smtClean="0"/>
              <a:t> 33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 smtClean="0"/>
              <a:t>16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33/2</a:t>
            </a:r>
            <a:r>
              <a:rPr lang="zh-CN" altLang="en-US"/>
              <a:t> ≈ </a:t>
            </a:r>
            <a:r>
              <a:rPr lang="en-US" altLang="zh-CN" smtClean="0"/>
              <a:t>16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16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472" y="1"/>
            <a:ext cx="6352528" cy="22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5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——IC 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封胶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12920</a:t>
            </a:r>
            <a:r>
              <a:rPr lang="zh-CN" altLang="en-US" smtClean="0"/>
              <a:t>*</a:t>
            </a:r>
            <a:r>
              <a:rPr lang="en-US" altLang="zh-CN" smtClean="0"/>
              <a:t>974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4.5s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 smtClean="0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800m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/>
              <a:t>语义</a:t>
            </a:r>
            <a:r>
              <a:rPr lang="zh-CN" altLang="en-US" smtClean="0"/>
              <a:t>分割</a:t>
            </a:r>
            <a:r>
              <a:rPr lang="en-US" altLang="zh-CN" smtClean="0"/>
              <a:t>+</a:t>
            </a:r>
            <a:r>
              <a:rPr lang="zh-CN" altLang="en-US" smtClean="0"/>
              <a:t>胶宽计算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1000ms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4.5s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4.5s/1000ms </a:t>
            </a:r>
            <a:r>
              <a:rPr lang="zh-CN" altLang="en-US"/>
              <a:t>≈</a:t>
            </a:r>
            <a:r>
              <a:rPr lang="en-US" altLang="zh-CN" smtClean="0"/>
              <a:t> </a:t>
            </a:r>
            <a:r>
              <a:rPr lang="en-US" altLang="zh-CN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1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4/4</a:t>
            </a:r>
            <a:r>
              <a:rPr lang="en-US" altLang="zh-CN" smtClean="0"/>
              <a:t>=1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1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 smtClean="0"/>
              <a:t>1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/>
              <a:t>1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5s/1000ms </a:t>
            </a:r>
            <a:r>
              <a:rPr lang="en-US" altLang="zh-CN" smtClean="0"/>
              <a:t>=</a:t>
            </a:r>
            <a:r>
              <a:rPr lang="en-US" altLang="zh-CN" smtClean="0"/>
              <a:t> 5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/>
              <a:t>5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/>
              <a:t>5</a:t>
            </a:r>
            <a:r>
              <a:rPr lang="en-US" altLang="zh-CN" smtClean="0"/>
              <a:t>/1</a:t>
            </a:r>
            <a:r>
              <a:rPr lang="zh-CN" altLang="en-US" smtClean="0"/>
              <a:t> </a:t>
            </a:r>
            <a:r>
              <a:rPr lang="en-US" altLang="zh-CN" smtClean="0"/>
              <a:t>=</a:t>
            </a:r>
            <a:r>
              <a:rPr lang="zh-CN" altLang="en-US" smtClean="0"/>
              <a:t> </a:t>
            </a:r>
            <a:r>
              <a:rPr lang="en-US" altLang="zh-CN"/>
              <a:t>5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/>
              <a:t>5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912" y="1"/>
            <a:ext cx="5977088" cy="19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8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6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3D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贴合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4000</a:t>
            </a:r>
            <a:r>
              <a:rPr lang="zh-CN" altLang="en-US" smtClean="0"/>
              <a:t>*</a:t>
            </a:r>
            <a:r>
              <a:rPr lang="en-US" altLang="zh-CN" smtClean="0"/>
              <a:t>3000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4.4s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/>
              <a:t>2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15</a:t>
            </a:r>
            <a:r>
              <a:rPr lang="en-US" altLang="zh-CN" smtClean="0"/>
              <a:t>0</a:t>
            </a:r>
            <a:r>
              <a:rPr lang="en-US" altLang="zh-CN" smtClean="0"/>
              <a:t>m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</a:t>
            </a:r>
            <a:r>
              <a:rPr lang="zh-CN" altLang="en-US" smtClean="0"/>
              <a:t>：</a:t>
            </a:r>
            <a:r>
              <a:rPr lang="en-US" altLang="zh-CN" smtClean="0"/>
              <a:t>AI</a:t>
            </a:r>
            <a:r>
              <a:rPr lang="zh-CN" altLang="en-US" smtClean="0"/>
              <a:t>定位 </a:t>
            </a:r>
            <a:r>
              <a:rPr lang="en-US" altLang="zh-CN" smtClean="0"/>
              <a:t>+ </a:t>
            </a:r>
            <a:r>
              <a:rPr lang="zh-CN" altLang="en-US" smtClean="0"/>
              <a:t>圆形距离计算）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200</a:t>
            </a:r>
            <a:r>
              <a:rPr lang="en-US" altLang="zh-CN" smtClean="0"/>
              <a:t>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4.4s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4.4s/200ms </a:t>
            </a:r>
            <a:r>
              <a:rPr lang="zh-CN" altLang="en-US"/>
              <a:t>≈</a:t>
            </a:r>
            <a:r>
              <a:rPr lang="en-US" altLang="zh-CN" smtClean="0"/>
              <a:t> 20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 smtClean="0"/>
              <a:t>10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20/2</a:t>
            </a:r>
            <a:r>
              <a:rPr lang="en-US" altLang="zh-CN" smtClean="0"/>
              <a:t>=10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10</a:t>
            </a:r>
            <a:r>
              <a:rPr lang="zh-CN" altLang="en-US" smtClean="0"/>
              <a:t>的方案</a:t>
            </a:r>
            <a:endParaRPr lang="en-US" altLang="zh-CN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0"/>
            <a:ext cx="6991350" cy="171087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195777" y="504930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重要</a:t>
            </a:r>
            <a:r>
              <a:rPr lang="zh-CN" altLang="en-US" b="1">
                <a:solidFill>
                  <a:srgbClr val="FF0000"/>
                </a:solidFill>
              </a:rPr>
              <a:t>说明</a:t>
            </a:r>
            <a:r>
              <a:rPr lang="zh-CN" altLang="en-US" b="1" smtClean="0">
                <a:solidFill>
                  <a:srgbClr val="FF0000"/>
                </a:solidFill>
              </a:rPr>
              <a:t>：需要实时性</a:t>
            </a:r>
            <a:endParaRPr lang="en-US" altLang="zh-CN" b="1" smtClean="0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不</a:t>
            </a:r>
            <a:r>
              <a:rPr lang="zh-CN" altLang="en-US" b="1" smtClean="0">
                <a:solidFill>
                  <a:srgbClr val="FF0000"/>
                </a:solidFill>
              </a:rPr>
              <a:t>考虑离线方案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039100" y="1524000"/>
            <a:ext cx="2603500" cy="3409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4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7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——bending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4000</a:t>
            </a:r>
            <a:r>
              <a:rPr lang="zh-CN" altLang="en-US" smtClean="0"/>
              <a:t>*</a:t>
            </a:r>
            <a:r>
              <a:rPr lang="en-US" altLang="zh-CN" smtClean="0"/>
              <a:t>3000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/>
              <a:t>8</a:t>
            </a:r>
            <a:r>
              <a:rPr lang="en-US" altLang="zh-CN" smtClean="0"/>
              <a:t>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 smtClean="0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200</a:t>
            </a:r>
            <a:r>
              <a:rPr lang="en-US" altLang="zh-CN" smtClean="0"/>
              <a:t>m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</a:t>
            </a:r>
            <a:r>
              <a:rPr lang="zh-CN" altLang="en-US" smtClean="0"/>
              <a:t>：蓝膜检测</a:t>
            </a:r>
            <a:r>
              <a:rPr lang="zh-CN" altLang="en-US" smtClean="0"/>
              <a:t> </a:t>
            </a:r>
            <a:r>
              <a:rPr lang="en-US" altLang="zh-CN" smtClean="0"/>
              <a:t>+ AI </a:t>
            </a:r>
            <a:r>
              <a:rPr lang="en-US" altLang="zh-CN" smtClean="0"/>
              <a:t>Mark</a:t>
            </a:r>
            <a:r>
              <a:rPr lang="zh-CN" altLang="en-US" smtClean="0"/>
              <a:t>识别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250</a:t>
            </a:r>
            <a:r>
              <a:rPr lang="en-US" altLang="zh-CN" smtClean="0"/>
              <a:t>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8s</a:t>
            </a:r>
            <a:r>
              <a:rPr lang="zh-CN" altLang="en-US" smtClean="0"/>
              <a:t>内，一个工控机，可处理的图片数量是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8</a:t>
            </a:r>
            <a:r>
              <a:rPr lang="en-US" altLang="zh-CN" smtClean="0"/>
              <a:t>s/250ms </a:t>
            </a:r>
            <a:r>
              <a:rPr lang="en-US" altLang="zh-CN" smtClean="0"/>
              <a:t>=</a:t>
            </a:r>
            <a:r>
              <a:rPr lang="en-US" altLang="zh-CN" smtClean="0"/>
              <a:t> 32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8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32</a:t>
            </a:r>
            <a:r>
              <a:rPr lang="en-US" altLang="zh-CN" smtClean="0"/>
              <a:t>/4</a:t>
            </a:r>
            <a:r>
              <a:rPr lang="en-US" altLang="zh-CN" smtClean="0"/>
              <a:t>=8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8</a:t>
            </a:r>
            <a:r>
              <a:rPr lang="zh-CN" altLang="en-US" smtClean="0"/>
              <a:t>的方案</a:t>
            </a:r>
            <a:endParaRPr lang="en-US" altLang="zh-CN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864" y="0"/>
            <a:ext cx="4786136" cy="243765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95777" y="5049300"/>
            <a:ext cx="30187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重要</a:t>
            </a:r>
            <a:r>
              <a:rPr lang="zh-CN" altLang="en-US" b="1">
                <a:solidFill>
                  <a:srgbClr val="FF0000"/>
                </a:solidFill>
              </a:rPr>
              <a:t>说明</a:t>
            </a:r>
            <a:r>
              <a:rPr lang="zh-CN" altLang="en-US" b="1" smtClean="0">
                <a:solidFill>
                  <a:srgbClr val="FF0000"/>
                </a:solidFill>
              </a:rPr>
              <a:t>：</a:t>
            </a:r>
            <a:r>
              <a:rPr lang="en-US" altLang="zh-CN" b="1" smtClean="0">
                <a:solidFill>
                  <a:srgbClr val="FF0000"/>
                </a:solidFill>
              </a:rPr>
              <a:t>Mark</a:t>
            </a:r>
            <a:r>
              <a:rPr lang="zh-CN" altLang="en-US" b="1" smtClean="0">
                <a:solidFill>
                  <a:srgbClr val="FF0000"/>
                </a:solidFill>
              </a:rPr>
              <a:t>识别 </a:t>
            </a:r>
            <a:r>
              <a:rPr lang="en-US" altLang="zh-CN" b="1" smtClean="0">
                <a:solidFill>
                  <a:srgbClr val="FF0000"/>
                </a:solidFill>
              </a:rPr>
              <a:t>+ PLC</a:t>
            </a:r>
            <a:br>
              <a:rPr lang="en-US" altLang="zh-CN" b="1" smtClean="0">
                <a:solidFill>
                  <a:srgbClr val="FF0000"/>
                </a:solidFill>
              </a:rPr>
            </a:br>
            <a:r>
              <a:rPr lang="zh-CN" altLang="en-US" b="1" smtClean="0">
                <a:solidFill>
                  <a:srgbClr val="FF0000"/>
                </a:solidFill>
              </a:rPr>
              <a:t>补偿需要实时性</a:t>
            </a:r>
            <a:endParaRPr lang="en-US" altLang="zh-CN" b="1" smtClean="0">
              <a:solidFill>
                <a:srgbClr val="FF0000"/>
              </a:solidFill>
            </a:endParaRPr>
          </a:p>
          <a:p>
            <a:r>
              <a:rPr lang="zh-CN" altLang="en-US" b="1" smtClean="0">
                <a:solidFill>
                  <a:srgbClr val="FF0000"/>
                </a:solidFill>
              </a:rPr>
              <a:t>因此不考虑离线方案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9982200" y="1841500"/>
            <a:ext cx="590550" cy="3207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74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8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LLO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16384</a:t>
            </a:r>
            <a:r>
              <a:rPr lang="zh-CN" altLang="en-US" smtClean="0"/>
              <a:t>*</a:t>
            </a:r>
            <a:r>
              <a:rPr lang="en-US" altLang="zh-CN" smtClean="0"/>
              <a:t>15360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10</a:t>
            </a:r>
            <a:r>
              <a:rPr lang="en-US" altLang="zh-CN" smtClean="0"/>
              <a:t>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 smtClean="0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/>
              <a:t>2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 smtClean="0"/>
              <a:t>缺陷检测</a:t>
            </a:r>
            <a:r>
              <a:rPr lang="en-US" altLang="zh-CN" smtClean="0"/>
              <a:t>+</a:t>
            </a:r>
            <a:r>
              <a:rPr lang="zh-CN" altLang="en-US" smtClean="0"/>
              <a:t>实例分割）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2.5s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10</a:t>
            </a:r>
            <a:r>
              <a:rPr lang="zh-CN" altLang="en-US" smtClean="0"/>
              <a:t>内</a:t>
            </a:r>
            <a:r>
              <a:rPr lang="zh-CN" altLang="en-US" smtClean="0"/>
              <a:t>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10</a:t>
            </a:r>
            <a:r>
              <a:rPr lang="en-US" altLang="zh-CN" smtClean="0"/>
              <a:t>s/2.5s </a:t>
            </a:r>
            <a:r>
              <a:rPr lang="en-US" altLang="zh-CN" smtClean="0"/>
              <a:t>=</a:t>
            </a:r>
            <a:r>
              <a:rPr lang="en-US" altLang="zh-CN" smtClean="0"/>
              <a:t> </a:t>
            </a:r>
            <a:r>
              <a:rPr lang="en-US" altLang="zh-CN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1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4/4</a:t>
            </a:r>
            <a:r>
              <a:rPr lang="en-US" altLang="zh-CN" smtClean="0"/>
              <a:t>=1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1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 smtClean="0"/>
              <a:t>1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/>
              <a:t>1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5s/2.5s = 2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/>
              <a:t>5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2/1</a:t>
            </a:r>
            <a:r>
              <a:rPr lang="zh-CN" altLang="en-US" smtClean="0"/>
              <a:t> </a:t>
            </a:r>
            <a:r>
              <a:rPr lang="en-US" altLang="zh-CN" smtClean="0"/>
              <a:t>=</a:t>
            </a:r>
            <a:r>
              <a:rPr lang="zh-CN" altLang="en-US" smtClean="0"/>
              <a:t> </a:t>
            </a:r>
            <a:r>
              <a:rPr lang="en-US" altLang="zh-CN" smtClean="0"/>
              <a:t>2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2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0" y="-57150"/>
            <a:ext cx="3943350" cy="296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1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9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——2T Cut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426" y="1733034"/>
            <a:ext cx="10482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图像分辨率</a:t>
            </a:r>
            <a:r>
              <a:rPr lang="zh-CN" altLang="en-US" smtClean="0"/>
              <a:t>：</a:t>
            </a:r>
            <a:r>
              <a:rPr lang="en-US" altLang="zh-CN" smtClean="0"/>
              <a:t>5472</a:t>
            </a:r>
            <a:r>
              <a:rPr lang="zh-CN" altLang="en-US" smtClean="0"/>
              <a:t>*</a:t>
            </a:r>
            <a:r>
              <a:rPr lang="en-US" altLang="zh-CN" smtClean="0"/>
              <a:t>3648</a:t>
            </a:r>
            <a:endParaRPr lang="en-US" altLang="zh-CN" smtClean="0"/>
          </a:p>
          <a:p>
            <a:r>
              <a:rPr lang="zh-CN" altLang="en-US" smtClean="0"/>
              <a:t>当前客户现场设备吞吐量：</a:t>
            </a:r>
            <a:r>
              <a:rPr lang="en-US" altLang="zh-CN" smtClean="0"/>
              <a:t>1</a:t>
            </a:r>
            <a:r>
              <a:rPr lang="en-US" altLang="zh-CN" smtClean="0"/>
              <a:t>s</a:t>
            </a:r>
            <a:r>
              <a:rPr lang="zh-CN" altLang="en-US" smtClean="0"/>
              <a:t>内需要</a:t>
            </a:r>
            <a:r>
              <a:rPr lang="zh-CN" altLang="en-US" smtClean="0"/>
              <a:t>处理</a:t>
            </a:r>
            <a:r>
              <a:rPr lang="en-US" altLang="zh-CN"/>
              <a:t>2</a:t>
            </a:r>
            <a:r>
              <a:rPr lang="zh-CN" altLang="en-US" smtClean="0"/>
              <a:t>张</a:t>
            </a:r>
            <a:r>
              <a:rPr lang="zh-CN" altLang="en-US" smtClean="0"/>
              <a:t>图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实时检测方案： </a:t>
            </a:r>
            <a:r>
              <a:rPr lang="zh-CN" altLang="en-US" smtClean="0"/>
              <a:t>根据图片分辨率，采用</a:t>
            </a:r>
            <a:r>
              <a:rPr lang="en-US" altLang="zh-CN" smtClean="0"/>
              <a:t>4070Ti</a:t>
            </a:r>
            <a:r>
              <a:rPr lang="zh-CN" altLang="en-US" smtClean="0"/>
              <a:t>显卡，一张图片处理</a:t>
            </a:r>
            <a:r>
              <a:rPr lang="zh-CN" altLang="en-US" smtClean="0"/>
              <a:t>约</a:t>
            </a:r>
            <a:r>
              <a:rPr lang="en-US" altLang="zh-CN" smtClean="0"/>
              <a:t>20</a:t>
            </a:r>
            <a:r>
              <a:rPr lang="en-US" altLang="zh-CN" smtClean="0"/>
              <a:t>0</a:t>
            </a:r>
            <a:r>
              <a:rPr lang="en-US" altLang="zh-CN" smtClean="0"/>
              <a:t>s</a:t>
            </a:r>
            <a:br>
              <a:rPr lang="en-US" altLang="zh-CN" smtClean="0"/>
            </a:br>
            <a:r>
              <a:rPr lang="en-US" altLang="zh-CN" smtClean="0"/>
              <a:t>                        </a:t>
            </a:r>
            <a:r>
              <a:rPr lang="zh-CN" altLang="en-US" smtClean="0"/>
              <a:t>（算法方案：产品定位</a:t>
            </a:r>
            <a:r>
              <a:rPr lang="en-US" altLang="zh-CN" smtClean="0"/>
              <a:t>+</a:t>
            </a:r>
            <a:r>
              <a:rPr lang="zh-CN" altLang="en-US" smtClean="0"/>
              <a:t>语义分割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</a:t>
            </a:r>
            <a:r>
              <a:rPr lang="en-US" altLang="zh-CN" smtClean="0"/>
              <a:t>      </a:t>
            </a:r>
            <a:r>
              <a:rPr lang="zh-CN" altLang="en-US" smtClean="0"/>
              <a:t>考虑</a:t>
            </a:r>
            <a:r>
              <a:rPr lang="zh-CN" altLang="en-US" smtClean="0"/>
              <a:t>图像传输，以及通讯耗时，单张图片</a:t>
            </a:r>
            <a:r>
              <a:rPr lang="zh-CN" altLang="en-US" smtClean="0"/>
              <a:t>需要</a:t>
            </a:r>
            <a:r>
              <a:rPr lang="en-US" altLang="zh-CN" smtClean="0"/>
              <a:t>250ms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 1</a:t>
            </a:r>
            <a:r>
              <a:rPr lang="zh-CN" altLang="en-US" smtClean="0"/>
              <a:t>内</a:t>
            </a:r>
            <a:r>
              <a:rPr lang="zh-CN" altLang="en-US" smtClean="0"/>
              <a:t>，一个工控机，可处理的图片数量是</a:t>
            </a:r>
            <a:r>
              <a:rPr lang="zh-CN" altLang="en-US" smtClean="0"/>
              <a:t>：</a:t>
            </a:r>
            <a:r>
              <a:rPr lang="en-US" altLang="zh-CN" smtClean="0"/>
              <a:t>1</a:t>
            </a:r>
            <a:r>
              <a:rPr lang="en-US" altLang="zh-CN" smtClean="0"/>
              <a:t>s/250ms </a:t>
            </a:r>
            <a:r>
              <a:rPr lang="en-US" altLang="zh-CN" smtClean="0"/>
              <a:t>=</a:t>
            </a:r>
            <a:r>
              <a:rPr lang="en-US" altLang="zh-CN" smtClean="0"/>
              <a:t> </a:t>
            </a:r>
            <a:r>
              <a:rPr lang="en-US" altLang="zh-CN"/>
              <a:t>4</a:t>
            </a:r>
            <a:r>
              <a:rPr lang="zh-CN" altLang="en-US" smtClean="0"/>
              <a:t>张</a:t>
            </a:r>
            <a:r>
              <a:rPr lang="zh-CN" altLang="en-US" smtClean="0"/>
              <a:t>图片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因此</a:t>
            </a:r>
            <a:r>
              <a:rPr lang="zh-CN" altLang="en-US" smtClean="0"/>
              <a:t>，一个工控机可以同时</a:t>
            </a:r>
            <a:r>
              <a:rPr lang="zh-CN" altLang="en-US" smtClean="0"/>
              <a:t>处理</a:t>
            </a:r>
            <a:r>
              <a:rPr lang="en-US" altLang="zh-CN"/>
              <a:t>2</a:t>
            </a:r>
            <a:r>
              <a:rPr lang="zh-CN" altLang="en-US" smtClean="0"/>
              <a:t>个</a:t>
            </a:r>
            <a:r>
              <a:rPr lang="zh-CN" altLang="en-US" smtClean="0"/>
              <a:t>站点的图片</a:t>
            </a:r>
            <a:r>
              <a:rPr lang="zh-CN" altLang="en-US" smtClean="0"/>
              <a:t>（</a:t>
            </a:r>
            <a:r>
              <a:rPr lang="en-US" altLang="zh-CN" smtClean="0"/>
              <a:t>4/2</a:t>
            </a:r>
            <a:r>
              <a:rPr lang="en-US" altLang="zh-CN" smtClean="0"/>
              <a:t>=2</a:t>
            </a:r>
            <a:r>
              <a:rPr lang="zh-CN" altLang="en-US" smtClean="0"/>
              <a:t>）</a:t>
            </a:r>
            <a:endParaRPr lang="en-US" altLang="zh-CN"/>
          </a:p>
          <a:p>
            <a:r>
              <a:rPr lang="en-US" altLang="zh-CN" smtClean="0"/>
              <a:t>                     </a:t>
            </a:r>
            <a:r>
              <a:rPr lang="en-US" altLang="zh-CN" smtClean="0"/>
              <a:t>    </a:t>
            </a:r>
            <a:r>
              <a:rPr lang="zh-CN" altLang="en-US" smtClean="0"/>
              <a:t>即</a:t>
            </a:r>
            <a:r>
              <a:rPr lang="zh-CN" altLang="en-US" smtClean="0"/>
              <a:t>：可采用</a:t>
            </a:r>
            <a:r>
              <a:rPr lang="en-US" altLang="zh-CN" smtClean="0"/>
              <a:t>1</a:t>
            </a:r>
            <a:r>
              <a:rPr lang="zh-CN" altLang="en-US" smtClean="0"/>
              <a:t>拖</a:t>
            </a:r>
            <a:r>
              <a:rPr lang="en-US" altLang="zh-CN"/>
              <a:t>2</a:t>
            </a:r>
            <a:r>
              <a:rPr lang="zh-CN" altLang="en-US" smtClean="0"/>
              <a:t>的</a:t>
            </a:r>
            <a:r>
              <a:rPr lang="zh-CN" altLang="en-US" smtClean="0"/>
              <a:t>方案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zh-CN" altLang="en-US"/>
              <a:t>离线</a:t>
            </a:r>
            <a:r>
              <a:rPr lang="zh-CN" altLang="en-US" smtClean="0"/>
              <a:t>检测</a:t>
            </a:r>
            <a:r>
              <a:rPr lang="zh-CN" altLang="en-US"/>
              <a:t>方案</a:t>
            </a:r>
            <a:r>
              <a:rPr lang="zh-CN" altLang="en-US"/>
              <a:t>：</a:t>
            </a:r>
            <a:r>
              <a:rPr lang="en-US" altLang="zh-CN" smtClean="0"/>
              <a:t> </a:t>
            </a:r>
            <a:r>
              <a:rPr lang="zh-CN" altLang="en-US" smtClean="0"/>
              <a:t>按照</a:t>
            </a:r>
            <a:r>
              <a:rPr lang="en-US" altLang="zh-CN" smtClean="0"/>
              <a:t>5</a:t>
            </a:r>
            <a:r>
              <a:rPr lang="zh-CN" altLang="en-US" smtClean="0"/>
              <a:t>秒一片产品的</a:t>
            </a:r>
            <a:r>
              <a:rPr lang="en-US" altLang="zh-CN" smtClean="0"/>
              <a:t>TT</a:t>
            </a:r>
            <a:r>
              <a:rPr lang="zh-CN" altLang="en-US" smtClean="0"/>
              <a:t>来计算，一片产品需要拍</a:t>
            </a:r>
            <a:r>
              <a:rPr lang="en-US" altLang="zh-CN" smtClean="0"/>
              <a:t>1</a:t>
            </a:r>
            <a:r>
              <a:rPr lang="zh-CN" altLang="en-US" smtClean="0"/>
              <a:t>张图</a:t>
            </a:r>
            <a:endParaRPr lang="en-US" altLang="zh-CN" smtClean="0"/>
          </a:p>
          <a:p>
            <a:r>
              <a:rPr lang="en-US" altLang="zh-CN"/>
              <a:t> </a:t>
            </a:r>
            <a:r>
              <a:rPr lang="en-US" altLang="zh-CN" smtClean="0"/>
              <a:t>                          </a:t>
            </a:r>
            <a:r>
              <a:rPr lang="zh-CN" altLang="en-US" smtClean="0"/>
              <a:t>即</a:t>
            </a:r>
            <a:r>
              <a:rPr lang="en-US" altLang="zh-CN" smtClean="0"/>
              <a:t>5</a:t>
            </a:r>
            <a:r>
              <a:rPr lang="zh-CN" altLang="en-US" smtClean="0"/>
              <a:t>秒内处理</a:t>
            </a:r>
            <a:r>
              <a:rPr lang="en-US" altLang="zh-CN"/>
              <a:t>1</a:t>
            </a:r>
            <a:r>
              <a:rPr lang="zh-CN" altLang="en-US" smtClean="0"/>
              <a:t>张图，</a:t>
            </a:r>
            <a:r>
              <a:rPr lang="en-US" altLang="zh-CN" smtClean="0"/>
              <a:t> 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                    5s</a:t>
            </a:r>
            <a:r>
              <a:rPr lang="zh-CN" altLang="en-US"/>
              <a:t>内，一个工控机，可处理的图片数量</a:t>
            </a:r>
            <a:r>
              <a:rPr lang="zh-CN" altLang="en-US"/>
              <a:t>是</a:t>
            </a:r>
            <a:r>
              <a:rPr lang="zh-CN" altLang="en-US" smtClean="0"/>
              <a:t>：</a:t>
            </a:r>
            <a:r>
              <a:rPr lang="en-US" altLang="zh-CN" smtClean="0"/>
              <a:t>5s/250ms = 20</a:t>
            </a:r>
            <a:r>
              <a:rPr lang="zh-CN" altLang="en-US" smtClean="0"/>
              <a:t>张图片</a:t>
            </a:r>
            <a:endParaRPr lang="en-US" altLang="zh-CN" smtClean="0"/>
          </a:p>
          <a:p>
            <a:r>
              <a:rPr lang="zh-CN" altLang="en-US" smtClean="0"/>
              <a:t>                          因此</a:t>
            </a:r>
            <a:r>
              <a:rPr lang="zh-CN" altLang="en-US"/>
              <a:t>，一个工控机可以</a:t>
            </a:r>
            <a:r>
              <a:rPr lang="zh-CN" altLang="en-US"/>
              <a:t>同时</a:t>
            </a:r>
            <a:r>
              <a:rPr lang="zh-CN" altLang="en-US" smtClean="0"/>
              <a:t>处理</a:t>
            </a:r>
            <a:r>
              <a:rPr lang="en-US" altLang="zh-CN"/>
              <a:t>5</a:t>
            </a:r>
            <a:r>
              <a:rPr lang="zh-CN" altLang="en-US" smtClean="0"/>
              <a:t>个</a:t>
            </a:r>
            <a:r>
              <a:rPr lang="zh-CN" altLang="en-US"/>
              <a:t>站点的</a:t>
            </a:r>
            <a:r>
              <a:rPr lang="zh-CN" altLang="en-US"/>
              <a:t>图片</a:t>
            </a:r>
            <a:r>
              <a:rPr lang="zh-CN" altLang="en-US" smtClean="0"/>
              <a:t>（</a:t>
            </a:r>
            <a:r>
              <a:rPr lang="en-US" altLang="zh-CN" smtClean="0"/>
              <a:t>20/1</a:t>
            </a:r>
            <a:r>
              <a:rPr lang="zh-CN" altLang="en-US" smtClean="0"/>
              <a:t> </a:t>
            </a:r>
            <a:r>
              <a:rPr lang="en-US" altLang="zh-CN" smtClean="0"/>
              <a:t>=</a:t>
            </a:r>
            <a:r>
              <a:rPr lang="zh-CN" altLang="en-US" smtClean="0"/>
              <a:t> </a:t>
            </a:r>
            <a:r>
              <a:rPr lang="en-US" altLang="zh-CN" smtClean="0"/>
              <a:t>20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                         即</a:t>
            </a:r>
            <a:r>
              <a:rPr lang="zh-CN" altLang="en-US"/>
              <a:t>：可采用</a:t>
            </a:r>
            <a:r>
              <a:rPr lang="en-US" altLang="zh-CN"/>
              <a:t>1</a:t>
            </a:r>
            <a:r>
              <a:rPr lang="zh-CN" altLang="en-US" smtClean="0"/>
              <a:t>拖</a:t>
            </a:r>
            <a:r>
              <a:rPr lang="en-US" altLang="zh-CN" smtClean="0"/>
              <a:t>20</a:t>
            </a:r>
            <a:r>
              <a:rPr lang="zh-CN" altLang="en-US" smtClean="0"/>
              <a:t>的方案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549" y="0"/>
            <a:ext cx="3919451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10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</a:rPr>
              <a:t>——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Aging 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压偏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检测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34426" y="1733034"/>
                <a:ext cx="10482873" cy="369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mtClean="0"/>
                  <a:t>图像分辨率：</a:t>
                </a:r>
                <a:r>
                  <a:rPr lang="en-US" altLang="zh-CN" smtClean="0"/>
                  <a:t>1024</a:t>
                </a:r>
                <a:r>
                  <a:rPr lang="zh-CN" altLang="en-US" smtClean="0"/>
                  <a:t>*</a:t>
                </a:r>
                <a:r>
                  <a:rPr lang="en-US" altLang="zh-CN" smtClean="0"/>
                  <a:t>768</a:t>
                </a:r>
              </a:p>
              <a:p>
                <a:r>
                  <a:rPr lang="zh-CN" altLang="en-US" smtClean="0"/>
                  <a:t>实时性要求：</a:t>
                </a:r>
                <a:r>
                  <a:rPr lang="en-US" altLang="zh-CN" smtClean="0"/>
                  <a:t>40s</a:t>
                </a:r>
                <a:r>
                  <a:rPr lang="zh-CN" altLang="en-US" smtClean="0"/>
                  <a:t>内检测</a:t>
                </a:r>
                <a:r>
                  <a:rPr lang="en-US" altLang="zh-CN" smtClean="0"/>
                  <a:t>10pcs</a:t>
                </a:r>
                <a:r>
                  <a:rPr lang="zh-CN" altLang="en-US" smtClean="0"/>
                  <a:t>产品，一片产品对应</a:t>
                </a:r>
                <a:r>
                  <a:rPr lang="en-US" altLang="zh-CN" smtClean="0"/>
                  <a:t>2</a:t>
                </a:r>
                <a:r>
                  <a:rPr lang="zh-CN" altLang="en-US" smtClean="0"/>
                  <a:t>张图片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  </a:t>
                </a:r>
                <a:r>
                  <a:rPr lang="zh-CN" altLang="en-US" smtClean="0"/>
                  <a:t>即：</a:t>
                </a:r>
                <a:r>
                  <a:rPr lang="en-US" altLang="zh-CN" smtClean="0"/>
                  <a:t>40s</a:t>
                </a:r>
                <a:r>
                  <a:rPr lang="zh-CN" altLang="en-US" smtClean="0"/>
                  <a:t>内需要处理</a:t>
                </a:r>
                <a:r>
                  <a:rPr lang="en-US" altLang="zh-CN" smtClean="0"/>
                  <a:t>20</a:t>
                </a:r>
                <a:r>
                  <a:rPr lang="zh-CN" altLang="en-US" smtClean="0"/>
                  <a:t>张图</a:t>
                </a:r>
                <a:endParaRPr lang="en-US" altLang="zh-CN" smtClean="0"/>
              </a:p>
              <a:p>
                <a:endParaRPr lang="en-US" altLang="zh-CN" smtClean="0"/>
              </a:p>
              <a:p>
                <a:r>
                  <a:rPr lang="zh-CN" altLang="en-US"/>
                  <a:t>算</a:t>
                </a:r>
                <a:r>
                  <a:rPr lang="zh-CN" altLang="en-US" smtClean="0"/>
                  <a:t>力要求： 根据图片分辨率，采用</a:t>
                </a:r>
                <a:r>
                  <a:rPr lang="en-US" altLang="zh-CN" smtClean="0"/>
                  <a:t>4070Ti</a:t>
                </a:r>
                <a:r>
                  <a:rPr lang="zh-CN" altLang="en-US" smtClean="0"/>
                  <a:t>显卡，一张图片处理约</a:t>
                </a:r>
                <a:r>
                  <a:rPr lang="en-US" altLang="zh-CN" smtClean="0"/>
                  <a:t>200ms</a:t>
                </a:r>
                <a:r>
                  <a:rPr lang="zh-CN" altLang="en-US" smtClean="0"/>
                  <a:t>（预定位</a:t>
                </a:r>
                <a:r>
                  <a:rPr lang="en-US" altLang="zh-CN" smtClean="0"/>
                  <a:t>+</a:t>
                </a:r>
                <a:r>
                  <a:rPr lang="zh-CN" altLang="en-US" smtClean="0"/>
                  <a:t>分割</a:t>
                </a:r>
                <a:r>
                  <a:rPr lang="en-US" altLang="zh-CN" smtClean="0"/>
                  <a:t>+</a:t>
                </a:r>
                <a:r>
                  <a:rPr lang="zh-CN" altLang="en-US" smtClean="0"/>
                  <a:t>边缘提取）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</a:t>
                </a:r>
                <a:r>
                  <a:rPr lang="zh-CN" altLang="en-US" smtClean="0"/>
                  <a:t>考虑图像传输，以及通讯耗时，单张图片需要</a:t>
                </a:r>
                <a:r>
                  <a:rPr lang="en-US" altLang="zh-CN" smtClean="0"/>
                  <a:t>250ms</a:t>
                </a:r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40s</a:t>
                </a:r>
                <a:r>
                  <a:rPr lang="zh-CN" altLang="en-US" smtClean="0"/>
                  <a:t>内，一个工控机，可处理的图片数量是：</a:t>
                </a:r>
                <a:r>
                  <a:rPr lang="en-US" altLang="zh-CN" smtClean="0"/>
                  <a:t>40s/250ms = 160</a:t>
                </a:r>
                <a:r>
                  <a:rPr lang="zh-CN" altLang="en-US" smtClean="0"/>
                  <a:t>张图片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</a:t>
                </a:r>
                <a:r>
                  <a:rPr lang="zh-CN" altLang="en-US" smtClean="0"/>
                  <a:t>因此，一个工控机可以同时处理</a:t>
                </a:r>
                <a:r>
                  <a:rPr lang="en-US" altLang="zh-CN"/>
                  <a:t>8</a:t>
                </a:r>
                <a:r>
                  <a:rPr lang="zh-CN" altLang="en-US" smtClean="0"/>
                  <a:t>个站点的图片（</a:t>
                </a:r>
                <a:r>
                  <a:rPr lang="en-US" altLang="zh-CN" smtClean="0"/>
                  <a:t>160/20=8</a:t>
                </a:r>
                <a:r>
                  <a:rPr lang="zh-CN" altLang="en-US" smtClean="0"/>
                  <a:t>）</a:t>
                </a:r>
                <a:endParaRPr lang="en-US" altLang="zh-CN"/>
              </a:p>
              <a:p>
                <a:r>
                  <a:rPr lang="en-US" altLang="zh-CN" smtClean="0"/>
                  <a:t>                     </a:t>
                </a:r>
                <a:r>
                  <a:rPr lang="zh-CN" altLang="en-US" smtClean="0"/>
                  <a:t>即：可采用</a:t>
                </a:r>
                <a:r>
                  <a:rPr lang="en-US" altLang="zh-CN" smtClean="0"/>
                  <a:t>1</a:t>
                </a:r>
                <a:r>
                  <a:rPr lang="zh-CN" altLang="en-US" smtClean="0"/>
                  <a:t>拖</a:t>
                </a:r>
                <a:r>
                  <a:rPr lang="en-US" altLang="zh-CN"/>
                  <a:t>8</a:t>
                </a:r>
                <a:r>
                  <a:rPr lang="zh-CN" altLang="en-US" smtClean="0"/>
                  <a:t>的方案</a:t>
                </a:r>
                <a:endParaRPr lang="en-US" altLang="zh-CN" smtClean="0"/>
              </a:p>
              <a:p>
                <a:endParaRPr lang="en-US" altLang="zh-CN"/>
              </a:p>
              <a:p>
                <a:endParaRPr lang="en-US" altLang="zh-CN" smtClean="0"/>
              </a:p>
              <a:p>
                <a:r>
                  <a:rPr lang="zh-CN" altLang="en-US"/>
                  <a:t>工</a:t>
                </a:r>
                <a:r>
                  <a:rPr lang="zh-CN" altLang="en-US" smtClean="0"/>
                  <a:t>控机数量：</a:t>
                </a:r>
                <a:r>
                  <a:rPr lang="en-US" altLang="zh-CN" smtClean="0"/>
                  <a:t> </a:t>
                </a:r>
                <a:r>
                  <a:rPr lang="zh-CN" altLang="en-US" smtClean="0"/>
                  <a:t>总共有</a:t>
                </a:r>
                <a:r>
                  <a:rPr lang="en-US" altLang="zh-CN" smtClean="0"/>
                  <a:t>30</a:t>
                </a:r>
                <a:r>
                  <a:rPr lang="zh-CN" altLang="en-US" smtClean="0"/>
                  <a:t>台设备，采用</a:t>
                </a:r>
                <a:r>
                  <a:rPr lang="en-US" altLang="zh-CN" smtClean="0"/>
                  <a:t>1</a:t>
                </a:r>
                <a:r>
                  <a:rPr lang="zh-CN" altLang="en-US" smtClean="0"/>
                  <a:t>拖</a:t>
                </a:r>
                <a:r>
                  <a:rPr lang="en-US" altLang="zh-CN"/>
                  <a:t>8</a:t>
                </a:r>
                <a:r>
                  <a:rPr lang="zh-CN" altLang="en-US" smtClean="0"/>
                  <a:t>的方案，需要的工控机的数量是：</a:t>
                </a:r>
                <a:r>
                  <a:rPr lang="en-US" altLang="zh-CN" smtClean="0"/>
                  <a:t>30/8</a:t>
                </a:r>
                <a:r>
                  <a:rPr lang="en-US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altLang="zh-CN" smtClean="0"/>
                  <a:t>4</a:t>
                </a:r>
                <a:r>
                  <a:rPr lang="zh-CN" altLang="en-US" smtClean="0"/>
                  <a:t>台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</a:t>
                </a:r>
                <a:endParaRPr lang="zh-CN" altLang="en-US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26" y="1733034"/>
                <a:ext cx="10482873" cy="3693319"/>
              </a:xfrm>
              <a:prstGeom prst="rect">
                <a:avLst/>
              </a:prstGeom>
              <a:blipFill>
                <a:blip r:embed="rId2"/>
                <a:stretch>
                  <a:fillRect l="-465" t="-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230" y="0"/>
            <a:ext cx="5370770" cy="173303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66474" y="555730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重要</a:t>
            </a:r>
            <a:r>
              <a:rPr lang="zh-CN" altLang="en-US" b="1">
                <a:solidFill>
                  <a:srgbClr val="FF0000"/>
                </a:solidFill>
              </a:rPr>
              <a:t>说明</a:t>
            </a:r>
            <a:r>
              <a:rPr lang="zh-CN" altLang="en-US" b="1" smtClean="0">
                <a:solidFill>
                  <a:srgbClr val="FF0000"/>
                </a:solidFill>
              </a:rPr>
              <a:t>：实时，不考虑离线方案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42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21677" y="386862"/>
            <a:ext cx="67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11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项</a:t>
            </a:r>
            <a:r>
              <a:rPr lang="en-US" altLang="zh-CN" sz="2800" b="1" smtClean="0">
                <a:solidFill>
                  <a:schemeClr val="accent5">
                    <a:lumMod val="50000"/>
                  </a:schemeClr>
                </a:solidFill>
              </a:rPr>
              <a:t>——API </a:t>
            </a:r>
            <a:r>
              <a:rPr lang="zh-CN" altLang="en-US" sz="2800" b="1" smtClean="0">
                <a:solidFill>
                  <a:schemeClr val="accent5">
                    <a:lumMod val="50000"/>
                  </a:schemeClr>
                </a:solidFill>
              </a:rPr>
              <a:t>站点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934426" y="1733034"/>
                <a:ext cx="10482873" cy="369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mtClean="0"/>
                  <a:t>图像分辨率：</a:t>
                </a:r>
                <a:r>
                  <a:rPr lang="en-US" altLang="zh-CN" smtClean="0"/>
                  <a:t>4896</a:t>
                </a:r>
                <a:r>
                  <a:rPr lang="zh-CN" altLang="en-US" smtClean="0"/>
                  <a:t>*</a:t>
                </a:r>
                <a:r>
                  <a:rPr lang="en-US" altLang="zh-CN" smtClean="0"/>
                  <a:t>2048</a:t>
                </a:r>
              </a:p>
              <a:p>
                <a:r>
                  <a:rPr lang="zh-CN" altLang="en-US" smtClean="0"/>
                  <a:t>实时性要求：</a:t>
                </a:r>
                <a:r>
                  <a:rPr lang="en-US" altLang="zh-CN" smtClean="0"/>
                  <a:t>40s</a:t>
                </a:r>
                <a:r>
                  <a:rPr lang="zh-CN" altLang="en-US" smtClean="0"/>
                  <a:t>内检测</a:t>
                </a:r>
                <a:r>
                  <a:rPr lang="en-US" altLang="zh-CN" smtClean="0"/>
                  <a:t>10pcs</a:t>
                </a:r>
                <a:r>
                  <a:rPr lang="zh-CN" altLang="en-US" smtClean="0"/>
                  <a:t>产品，一片产品对应</a:t>
                </a:r>
                <a:r>
                  <a:rPr lang="en-US" altLang="zh-CN" smtClean="0"/>
                  <a:t>2</a:t>
                </a:r>
                <a:r>
                  <a:rPr lang="zh-CN" altLang="en-US" smtClean="0"/>
                  <a:t>张图片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  </a:t>
                </a:r>
                <a:r>
                  <a:rPr lang="zh-CN" altLang="en-US" smtClean="0"/>
                  <a:t>即：</a:t>
                </a:r>
                <a:r>
                  <a:rPr lang="en-US" altLang="zh-CN" smtClean="0"/>
                  <a:t>40s</a:t>
                </a:r>
                <a:r>
                  <a:rPr lang="zh-CN" altLang="en-US" smtClean="0"/>
                  <a:t>内需要处理</a:t>
                </a:r>
                <a:r>
                  <a:rPr lang="en-US" altLang="zh-CN" smtClean="0"/>
                  <a:t>20</a:t>
                </a:r>
                <a:r>
                  <a:rPr lang="zh-CN" altLang="en-US" smtClean="0"/>
                  <a:t>张图（</a:t>
                </a:r>
                <a:r>
                  <a:rPr lang="zh-CN" altLang="en-US" smtClean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smtClean="0">
                    <a:solidFill>
                      <a:srgbClr val="FF0000"/>
                    </a:solidFill>
                  </a:rPr>
                  <a:t>Aging</a:t>
                </a:r>
                <a:r>
                  <a:rPr lang="zh-CN" altLang="en-US" smtClean="0">
                    <a:solidFill>
                      <a:srgbClr val="FF0000"/>
                    </a:solidFill>
                  </a:rPr>
                  <a:t>站点需求相同，仅图像分辨率不同</a:t>
                </a:r>
                <a:r>
                  <a:rPr lang="zh-CN" altLang="en-US" smtClean="0"/>
                  <a:t>）</a:t>
                </a:r>
                <a:endParaRPr lang="en-US" altLang="zh-CN" smtClean="0"/>
              </a:p>
              <a:p>
                <a:endParaRPr lang="en-US" altLang="zh-CN" smtClean="0"/>
              </a:p>
              <a:p>
                <a:r>
                  <a:rPr lang="zh-CN" altLang="en-US"/>
                  <a:t>算</a:t>
                </a:r>
                <a:r>
                  <a:rPr lang="zh-CN" altLang="en-US" smtClean="0"/>
                  <a:t>力要求： 根据图片分辨率，采用</a:t>
                </a:r>
                <a:r>
                  <a:rPr lang="en-US" altLang="zh-CN" smtClean="0"/>
                  <a:t>4070Ti</a:t>
                </a:r>
                <a:r>
                  <a:rPr lang="zh-CN" altLang="en-US" smtClean="0"/>
                  <a:t>显卡，一张图片处理约</a:t>
                </a:r>
                <a:r>
                  <a:rPr lang="en-US" altLang="zh-CN" smtClean="0"/>
                  <a:t>300ms</a:t>
                </a:r>
                <a:r>
                  <a:rPr lang="zh-CN" altLang="en-US" smtClean="0"/>
                  <a:t>（预定位</a:t>
                </a:r>
                <a:r>
                  <a:rPr lang="en-US" altLang="zh-CN" smtClean="0"/>
                  <a:t>+</a:t>
                </a:r>
                <a:r>
                  <a:rPr lang="zh-CN" altLang="en-US" smtClean="0"/>
                  <a:t>分割</a:t>
                </a:r>
                <a:r>
                  <a:rPr lang="en-US" altLang="zh-CN" smtClean="0"/>
                  <a:t>+</a:t>
                </a:r>
                <a:r>
                  <a:rPr lang="zh-CN" altLang="en-US" smtClean="0"/>
                  <a:t>边缘提取）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</a:t>
                </a:r>
                <a:r>
                  <a:rPr lang="zh-CN" altLang="en-US" smtClean="0"/>
                  <a:t>考虑图像传输，以及通讯耗时，单张图片需要</a:t>
                </a:r>
                <a:r>
                  <a:rPr lang="en-US" altLang="zh-CN" smtClean="0"/>
                  <a:t>400ms</a:t>
                </a:r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40s</a:t>
                </a:r>
                <a:r>
                  <a:rPr lang="zh-CN" altLang="en-US" smtClean="0"/>
                  <a:t>内，一个工控机，可处理的图片数量是：</a:t>
                </a:r>
                <a:r>
                  <a:rPr lang="en-US" altLang="zh-CN" smtClean="0"/>
                  <a:t>40s/400ms = 100</a:t>
                </a:r>
                <a:r>
                  <a:rPr lang="zh-CN" altLang="en-US" smtClean="0"/>
                  <a:t>张图片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</a:t>
                </a:r>
                <a:r>
                  <a:rPr lang="zh-CN" altLang="en-US" smtClean="0"/>
                  <a:t>因此，一个工控机可以同时处理</a:t>
                </a:r>
                <a:r>
                  <a:rPr lang="en-US" altLang="zh-CN" smtClean="0"/>
                  <a:t>5</a:t>
                </a:r>
                <a:r>
                  <a:rPr lang="zh-CN" altLang="en-US" smtClean="0"/>
                  <a:t>个站点的图片（</a:t>
                </a:r>
                <a:r>
                  <a:rPr lang="en-US" altLang="zh-CN" smtClean="0"/>
                  <a:t>100/20=5</a:t>
                </a:r>
                <a:r>
                  <a:rPr lang="zh-CN" altLang="en-US" smtClean="0"/>
                  <a:t>）</a:t>
                </a:r>
                <a:endParaRPr lang="en-US" altLang="zh-CN"/>
              </a:p>
              <a:p>
                <a:r>
                  <a:rPr lang="en-US" altLang="zh-CN" smtClean="0"/>
                  <a:t>                     </a:t>
                </a:r>
                <a:r>
                  <a:rPr lang="zh-CN" altLang="en-US" smtClean="0"/>
                  <a:t>即：可采用</a:t>
                </a:r>
                <a:r>
                  <a:rPr lang="en-US" altLang="zh-CN" smtClean="0"/>
                  <a:t>1</a:t>
                </a:r>
                <a:r>
                  <a:rPr lang="zh-CN" altLang="en-US" smtClean="0"/>
                  <a:t>拖</a:t>
                </a:r>
                <a:r>
                  <a:rPr lang="en-US" altLang="zh-CN" smtClean="0"/>
                  <a:t>5</a:t>
                </a:r>
                <a:r>
                  <a:rPr lang="zh-CN" altLang="en-US" smtClean="0"/>
                  <a:t>的方案</a:t>
                </a:r>
                <a:endParaRPr lang="en-US" altLang="zh-CN" smtClean="0"/>
              </a:p>
              <a:p>
                <a:endParaRPr lang="en-US" altLang="zh-CN"/>
              </a:p>
              <a:p>
                <a:endParaRPr lang="en-US" altLang="zh-CN" smtClean="0"/>
              </a:p>
              <a:p>
                <a:r>
                  <a:rPr lang="zh-CN" altLang="en-US"/>
                  <a:t>工</a:t>
                </a:r>
                <a:r>
                  <a:rPr lang="zh-CN" altLang="en-US" smtClean="0"/>
                  <a:t>控机数量：</a:t>
                </a:r>
                <a:r>
                  <a:rPr lang="en-US" altLang="zh-CN" smtClean="0"/>
                  <a:t> </a:t>
                </a:r>
                <a:r>
                  <a:rPr lang="zh-CN" altLang="en-US" smtClean="0"/>
                  <a:t>总共有</a:t>
                </a:r>
                <a:r>
                  <a:rPr lang="en-US" altLang="zh-CN" smtClean="0"/>
                  <a:t>29</a:t>
                </a:r>
                <a:r>
                  <a:rPr lang="zh-CN" altLang="en-US" smtClean="0"/>
                  <a:t>台设备，采用</a:t>
                </a:r>
                <a:r>
                  <a:rPr lang="en-US" altLang="zh-CN" smtClean="0"/>
                  <a:t>1</a:t>
                </a:r>
                <a:r>
                  <a:rPr lang="zh-CN" altLang="en-US" smtClean="0"/>
                  <a:t>拖</a:t>
                </a:r>
                <a:r>
                  <a:rPr lang="en-US" altLang="zh-CN" smtClean="0"/>
                  <a:t>5</a:t>
                </a:r>
                <a:r>
                  <a:rPr lang="zh-CN" altLang="en-US" smtClean="0"/>
                  <a:t>的方案，需要的工控机的数量是：</a:t>
                </a:r>
                <a:r>
                  <a:rPr lang="en-US" altLang="zh-CN" smtClean="0"/>
                  <a:t>29/5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mtClean="0"/>
                  <a:t>6</a:t>
                </a:r>
                <a:r>
                  <a:rPr lang="zh-CN" altLang="en-US" smtClean="0"/>
                  <a:t>台</a:t>
                </a:r>
                <a:endParaRPr lang="en-US" altLang="zh-CN" smtClean="0"/>
              </a:p>
              <a:p>
                <a:r>
                  <a:rPr lang="en-US" altLang="zh-CN"/>
                  <a:t> </a:t>
                </a:r>
                <a:r>
                  <a:rPr lang="en-US" altLang="zh-CN" smtClean="0"/>
                  <a:t>                    </a:t>
                </a:r>
                <a:endParaRPr lang="zh-CN" altLang="en-US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26" y="1733034"/>
                <a:ext cx="10482873" cy="3693319"/>
              </a:xfrm>
              <a:prstGeom prst="rect">
                <a:avLst/>
              </a:prstGeom>
              <a:blipFill>
                <a:blip r:embed="rId2"/>
                <a:stretch>
                  <a:fillRect l="-465" t="-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4" y="5673785"/>
            <a:ext cx="2828571" cy="9714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864" y="5673784"/>
            <a:ext cx="4405136" cy="97142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0"/>
            <a:ext cx="5391150" cy="19898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66474" y="555730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重要</a:t>
            </a:r>
            <a:r>
              <a:rPr lang="zh-CN" altLang="en-US" b="1">
                <a:solidFill>
                  <a:srgbClr val="FF0000"/>
                </a:solidFill>
              </a:rPr>
              <a:t>说明</a:t>
            </a:r>
            <a:r>
              <a:rPr lang="zh-CN" altLang="en-US" b="1" smtClean="0">
                <a:solidFill>
                  <a:srgbClr val="FF0000"/>
                </a:solidFill>
              </a:rPr>
              <a:t>：实时，不考虑离线方案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2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5" y="34132"/>
            <a:ext cx="12144655" cy="6823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18bca2f-80a2-4129-ad90-75a90148b5f2"/>
  <p:tag name="COMMONDATA" val="eyJoZGlkIjoiMmVhMTNkMjM1MjM3ZDA4NjcyMWJjY2RlZDYxNTdhNj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812</Words>
  <Application>Microsoft Office PowerPoint</Application>
  <PresentationFormat>宽屏</PresentationFormat>
  <Paragraphs>169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Avenir Light Oblique</vt:lpstr>
      <vt:lpstr>等线</vt:lpstr>
      <vt:lpstr>微软雅黑</vt:lpstr>
      <vt:lpstr>Arial</vt:lpstr>
      <vt:lpstr>Cambria Math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.</dc:creator>
  <cp:lastModifiedBy>Administrator</cp:lastModifiedBy>
  <cp:revision>1911</cp:revision>
  <dcterms:created xsi:type="dcterms:W3CDTF">2022-12-02T09:02:00Z</dcterms:created>
  <dcterms:modified xsi:type="dcterms:W3CDTF">2026-05-09T07:54:38Z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C998C17152BB499B93AB652B040911F4</vt:lpwstr>
  </property>
</Properties>
</file>